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 type="wide"/>
  <p:notesSz cx="6858000" cy="9144000"/>
  <p:defaultTextStyle>
    <a:defPPr>
      <a:defRPr lang="en-US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9525">
            <a:solidFill>
              <a:srgbClr val="F7F4EE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66928" y="384048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00" dirty="0">
                <a:b/>
                <a:solidFill>
                  <a:srgbClr val="B65035"/>
                </a:solidFill>
                <a:latin typeface="Aptos"/>
              </a:rPr>
              <a:t>CASE STUDY</a:t>
            </a:r>
            <a:endParaRPr lang="en-US" sz="800" dirty="0"/>
          </a:p>
        </p:txBody>
      </p:sp>
      <p:sp>
        <p:nvSpPr>
          <p:cNvPr id="13" name="TextBox 13"/>
          <p:cNvSpPr txBox="1"/>
          <p:nvPr/>
        </p:nvSpPr>
        <p:spPr>
          <a:xfrm>
            <a:off x="566928" y="694944"/>
            <a:ext cx="8046720" cy="58521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300" dirty="0">
                <a:b/>
                <a:solidFill>
                  <a:srgbClr val="1E252B"/>
                </a:solidFill>
                <a:latin typeface="Aptos"/>
              </a:rPr>
              <a:t>Post-Meeting Summary Bot</a:t>
            </a:r>
            <a:endParaRPr lang="en-US" sz="2300" dirty="0"/>
          </a:p>
        </p:txBody>
      </p:sp>
      <p:sp>
        <p:nvSpPr>
          <p:cNvPr id="10" name="TextBox 10"/>
          <p:cNvSpPr txBox="1"/>
          <p:nvPr/>
        </p:nvSpPr>
        <p:spPr>
          <a:xfrm>
            <a:off x="713232" y="1627632"/>
            <a:ext cx="58521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400" dirty="0">
                <a:solidFill>
                  <a:srgbClr val="6B6460"/>
                </a:solidFill>
                <a:latin typeface="Aptos"/>
              </a:rPr>
              <a:t>Turning long meeting recordings into transcript, summary, coaching feedback, and follow-up email delivery.</a:t>
            </a:r>
            <a:endParaRPr lang="en-US" sz="1400" dirty="0"/>
          </a:p>
        </p:txBody>
      </p:sp>
      <p:sp>
        <p:nvSpPr>
          <p:cNvPr id="11" name="Rect 11"/>
          <p:cNvSpPr/>
          <p:nvPr/>
        </p:nvSpPr>
        <p:spPr>
          <a:xfrm>
            <a:off x="6720840" y="1097280"/>
            <a:ext cx="43434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5"/>
            </a:solidFill>
          </a:ln>
        </p:spPr>
      </p:sp>
      <p:sp>
        <p:nvSpPr>
          <p:cNvPr id="12" name="Rect 12"/>
          <p:cNvSpPr/>
          <p:nvPr/>
        </p:nvSpPr>
        <p:spPr>
          <a:xfrm>
            <a:off x="6720840" y="1097280"/>
            <a:ext cx="54864" cy="1051560"/>
          </a:xfrm>
          <a:prstGeom prst="rect">
            <a:avLst/>
          </a:prstGeom>
          <a:solidFill>
            <a:srgbClr val="B65035"/>
          </a:solidFill>
          <a:ln w="9525">
            <a:solidFill>
              <a:srgbClr val="B65035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885431" y="1243584"/>
            <a:ext cx="4050791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100" dirty="0">
                <a:b/>
                <a:solidFill>
                  <a:srgbClr val="1E252B"/>
                </a:solidFill>
                <a:latin typeface="Aptos"/>
              </a:rPr>
              <a:t>Core problem</a:t>
            </a:r>
            <a:endParaRPr lang="en-US" sz="1100" dirty="0"/>
          </a:p>
        </p:txBody>
      </p:sp>
      <p:sp>
        <p:nvSpPr>
          <p:cNvPr id="14" name="TextBox 14"/>
          <p:cNvSpPr txBox="1"/>
          <p:nvPr/>
        </p:nvSpPr>
        <p:spPr>
          <a:xfrm>
            <a:off x="6885431" y="1600200"/>
            <a:ext cx="4032504" cy="457199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40" dirty="0">
                <a:solidFill>
                  <a:srgbClr val="6B6460"/>
                </a:solidFill>
                <a:latin typeface="Aptos"/>
              </a:rPr>
              <a:t>A 30-minute meeting creates too much unstructured audio for manual review, especially when speaker feedback and follow-up emails are required.</a:t>
            </a:r>
            <a:endParaRPr lang="en-US" sz="840" dirty="0"/>
          </a:p>
        </p:txBody>
      </p:sp>
      <p:sp>
        <p:nvSpPr>
          <p:cNvPr id="15" name="Rect 15"/>
          <p:cNvSpPr/>
          <p:nvPr/>
        </p:nvSpPr>
        <p:spPr>
          <a:xfrm>
            <a:off x="6720840" y="2423160"/>
            <a:ext cx="43434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5"/>
            </a:solidFill>
          </a:ln>
        </p:spPr>
      </p:sp>
      <p:sp>
        <p:nvSpPr>
          <p:cNvPr id="16" name="Rect 16"/>
          <p:cNvSpPr/>
          <p:nvPr/>
        </p:nvSpPr>
        <p:spPr>
          <a:xfrm>
            <a:off x="6720840" y="2423160"/>
            <a:ext cx="54864" cy="1051560"/>
          </a:xfrm>
          <a:prstGeom prst="rect">
            <a:avLst/>
          </a:prstGeom>
          <a:solidFill>
            <a:srgbClr val="247C78"/>
          </a:solidFill>
          <a:ln w="9525">
            <a:solidFill>
              <a:srgbClr val="247C78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885431" y="2569464"/>
            <a:ext cx="4050791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100" dirty="0">
                <a:b/>
                <a:solidFill>
                  <a:srgbClr val="1E252B"/>
                </a:solidFill>
                <a:latin typeface="Aptos"/>
              </a:rPr>
              <a:t>Implemented answer</a:t>
            </a:r>
            <a:endParaRPr lang="en-US" sz="1100" dirty="0"/>
          </a:p>
        </p:txBody>
      </p:sp>
      <p:sp>
        <p:nvSpPr>
          <p:cNvPr id="18" name="TextBox 18"/>
          <p:cNvSpPr txBox="1"/>
          <p:nvPr/>
        </p:nvSpPr>
        <p:spPr>
          <a:xfrm>
            <a:off x="6885431" y="2926080"/>
            <a:ext cx="4032504" cy="457199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40" dirty="0">
                <a:solidFill>
                  <a:srgbClr val="6B6460"/>
                </a:solidFill>
                <a:latin typeface="Aptos"/>
              </a:rPr>
              <a:t>A FastAPI + React workflow processes audio locally with pyannote, Vosk, Ollama, and Resend.</a:t>
            </a:r>
            <a:endParaRPr lang="en-US" sz="840" dirty="0"/>
          </a:p>
        </p:txBody>
      </p:sp>
      <p:sp>
        <p:nvSpPr>
          <p:cNvPr id="19" name="TextBox 19"/>
          <p:cNvSpPr txBox="1"/>
          <p:nvPr/>
        </p:nvSpPr>
        <p:spPr>
          <a:xfrm>
            <a:off x="822960" y="4343400"/>
            <a:ext cx="1920240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00" dirty="0">
                <a:b/>
                <a:solidFill>
                  <a:srgbClr val="B65035"/>
                </a:solidFill>
                <a:latin typeface="Aptos"/>
              </a:rPr>
              <a:t>1 upload</a:t>
            </a:r>
            <a:endParaRPr lang="en-US" sz="1800" dirty="0"/>
          </a:p>
        </p:txBody>
      </p:sp>
      <p:sp>
        <p:nvSpPr>
          <p:cNvPr id="20" name="TextBox 20"/>
          <p:cNvSpPr txBox="1"/>
          <p:nvPr/>
        </p:nvSpPr>
        <p:spPr>
          <a:xfrm>
            <a:off x="2834640" y="4343400"/>
            <a:ext cx="1920240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00" dirty="0">
                <a:b/>
                <a:solidFill>
                  <a:srgbClr val="247C78"/>
                </a:solidFill>
                <a:latin typeface="Aptos"/>
              </a:rPr>
              <a:t>5 stages</a:t>
            </a:r>
            <a:endParaRPr lang="en-US" sz="1800" dirty="0"/>
          </a:p>
        </p:txBody>
      </p:sp>
      <p:sp>
        <p:nvSpPr>
          <p:cNvPr id="21" name="TextBox 21"/>
          <p:cNvSpPr txBox="1"/>
          <p:nvPr/>
        </p:nvSpPr>
        <p:spPr>
          <a:xfrm>
            <a:off x="4846320" y="4343400"/>
            <a:ext cx="2743200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800" dirty="0">
                <a:b/>
                <a:solidFill>
                  <a:srgbClr val="C89A3B"/>
                </a:solidFill>
                <a:latin typeface="Aptos"/>
              </a:rPr>
              <a:t>30m long-audio test</a:t>
            </a:r>
            <a:endParaRPr lang="en-US" sz="1800" dirty="0"/>
          </a:p>
        </p:txBody>
      </p:sp>
      <p:sp>
        <p:nvSpPr>
          <p:cNvPr id="11" name="TextBox 11"/>
          <p:cNvSpPr txBox="1"/>
          <p:nvPr/>
        </p:nvSpPr>
        <p:spPr>
          <a:xfrm>
            <a:off x="566928" y="6446520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650" dirty="0">
                <a:solidFill>
                  <a:srgbClr val="7E7468"/>
                </a:solidFill>
                <a:latin typeface="Aptos"/>
              </a:rPr>
              <a:t>Post-Meeting Summary Bot case study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9525">
            <a:solidFill>
              <a:srgbClr val="F7F4EE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66928" y="384048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00" dirty="0">
                <a:b/>
                <a:solidFill>
                  <a:srgbClr val="B65035"/>
                </a:solidFill>
                <a:latin typeface="Aptos"/>
              </a:rPr>
              <a:t>CONTEXT</a:t>
            </a:r>
            <a:endParaRPr lang="en-US" sz="800" dirty="0"/>
          </a:p>
        </p:txBody>
      </p:sp>
      <p:sp>
        <p:nvSpPr>
          <p:cNvPr id="13" name="TextBox 13"/>
          <p:cNvSpPr txBox="1"/>
          <p:nvPr/>
        </p:nvSpPr>
        <p:spPr>
          <a:xfrm>
            <a:off x="566928" y="694944"/>
            <a:ext cx="8046720" cy="58521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300" dirty="0">
                <a:b/>
                <a:solidFill>
                  <a:srgbClr val="1E252B"/>
                </a:solidFill>
                <a:latin typeface="Aptos"/>
              </a:rPr>
              <a:t>The workflow targets meetings that are too long to inspect manually.</a:t>
            </a:r>
            <a:endParaRPr lang="en-US" sz="2300" dirty="0"/>
          </a:p>
        </p:txBody>
      </p:sp>
      <p:sp>
        <p:nvSpPr>
          <p:cNvPr id="14" name="TextBox 14"/>
          <p:cNvSpPr txBox="1"/>
          <p:nvPr/>
        </p:nvSpPr>
        <p:spPr>
          <a:xfrm>
            <a:off x="8549640" y="50292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40" dirty="0">
                <a:solidFill>
                  <a:srgbClr val="6B6460"/>
                </a:solidFill>
                <a:latin typeface="Aptos"/>
              </a:rPr>
              <a:t>Audience: builders and stakeholders evaluating the project.</a:t>
            </a:r>
            <a:endParaRPr lang="en-US" sz="840" dirty="0"/>
          </a:p>
        </p:txBody>
      </p:sp>
      <p:sp>
        <p:nvSpPr>
          <p:cNvPr id="14" name="Rect 14"/>
          <p:cNvSpPr/>
          <p:nvPr/>
        </p:nvSpPr>
        <p:spPr>
          <a:xfrm>
            <a:off x="685800" y="1600200"/>
            <a:ext cx="31546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5"/>
            </a:solidFill>
          </a:ln>
        </p:spPr>
      </p:sp>
      <p:sp>
        <p:nvSpPr>
          <p:cNvPr id="15" name="Rect 15"/>
          <p:cNvSpPr/>
          <p:nvPr/>
        </p:nvSpPr>
        <p:spPr>
          <a:xfrm>
            <a:off x="685800" y="1600200"/>
            <a:ext cx="54864" cy="3383280"/>
          </a:xfrm>
          <a:prstGeom prst="rect">
            <a:avLst/>
          </a:prstGeom>
          <a:solidFill>
            <a:srgbClr val="B65035"/>
          </a:solidFill>
          <a:ln w="9525">
            <a:solidFill>
              <a:srgbClr val="B65035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850392" y="1746504"/>
            <a:ext cx="286207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100" dirty="0">
                <a:b/>
                <a:solidFill>
                  <a:srgbClr val="1E252B"/>
                </a:solidFill>
                <a:latin typeface="Aptos"/>
              </a:rPr>
              <a:t>User pain</a:t>
            </a:r>
            <a:endParaRPr lang="en-US" sz="1100" dirty="0"/>
          </a:p>
        </p:txBody>
      </p:sp>
      <p:sp>
        <p:nvSpPr>
          <p:cNvPr id="17" name="TextBox 17"/>
          <p:cNvSpPr txBox="1"/>
          <p:nvPr/>
        </p:nvSpPr>
        <p:spPr>
          <a:xfrm>
            <a:off x="850392" y="2103120"/>
            <a:ext cx="2843784" cy="2788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40" dirty="0">
                <a:solidFill>
                  <a:srgbClr val="6B6460"/>
                </a:solidFill>
                <a:latin typeface="Aptos"/>
              </a:rPr>
              <a:t>Recordings preserve everything but reveal little quickly. Users need the gist, speaker contributions, and next steps without replaying the full audio.</a:t>
            </a:r>
            <a:endParaRPr lang="en-US" sz="840" dirty="0"/>
          </a:p>
        </p:txBody>
      </p:sp>
      <p:sp>
        <p:nvSpPr>
          <p:cNvPr id="18" name="Rect 18"/>
          <p:cNvSpPr/>
          <p:nvPr/>
        </p:nvSpPr>
        <p:spPr>
          <a:xfrm>
            <a:off x="4160520" y="1600200"/>
            <a:ext cx="31546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5"/>
            </a:solidFill>
          </a:ln>
        </p:spPr>
      </p:sp>
      <p:sp>
        <p:nvSpPr>
          <p:cNvPr id="19" name="Rect 19"/>
          <p:cNvSpPr/>
          <p:nvPr/>
        </p:nvSpPr>
        <p:spPr>
          <a:xfrm>
            <a:off x="4160520" y="1600200"/>
            <a:ext cx="54864" cy="3383280"/>
          </a:xfrm>
          <a:prstGeom prst="rect">
            <a:avLst/>
          </a:prstGeom>
          <a:solidFill>
            <a:srgbClr val="247C78"/>
          </a:solidFill>
          <a:ln w="9525">
            <a:solidFill>
              <a:srgbClr val="247C78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4325112" y="1746504"/>
            <a:ext cx="286207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100" dirty="0">
                <a:b/>
                <a:solidFill>
                  <a:srgbClr val="1E252B"/>
                </a:solidFill>
                <a:latin typeface="Aptos"/>
              </a:rPr>
              <a:t>Project goal</a:t>
            </a:r>
            <a:endParaRPr lang="en-US" sz="1100" dirty="0"/>
          </a:p>
        </p:txBody>
      </p:sp>
      <p:sp>
        <p:nvSpPr>
          <p:cNvPr id="21" name="TextBox 21"/>
          <p:cNvSpPr txBox="1"/>
          <p:nvPr/>
        </p:nvSpPr>
        <p:spPr>
          <a:xfrm>
            <a:off x="4325112" y="2103120"/>
            <a:ext cx="2843784" cy="2788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40" dirty="0">
                <a:solidFill>
                  <a:srgbClr val="6B6460"/>
                </a:solidFill>
                <a:latin typeface="Aptos"/>
              </a:rPr>
              <a:t>Upload audio and receive transcript, summary, speaker coaching, and optional email distribution from one browser-based flow.</a:t>
            </a:r>
            <a:endParaRPr lang="en-US" sz="840" dirty="0"/>
          </a:p>
        </p:txBody>
      </p:sp>
      <p:sp>
        <p:nvSpPr>
          <p:cNvPr id="22" name="Rect 22"/>
          <p:cNvSpPr/>
          <p:nvPr/>
        </p:nvSpPr>
        <p:spPr>
          <a:xfrm>
            <a:off x="7635240" y="1600200"/>
            <a:ext cx="31546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5"/>
            </a:solidFill>
          </a:ln>
        </p:spPr>
      </p:sp>
      <p:sp>
        <p:nvSpPr>
          <p:cNvPr id="23" name="Rect 23"/>
          <p:cNvSpPr/>
          <p:nvPr/>
        </p:nvSpPr>
        <p:spPr>
          <a:xfrm>
            <a:off x="7635240" y="1600200"/>
            <a:ext cx="54864" cy="3383280"/>
          </a:xfrm>
          <a:prstGeom prst="rect">
            <a:avLst/>
          </a:prstGeom>
          <a:solidFill>
            <a:srgbClr val="C89A3B"/>
          </a:solidFill>
          <a:ln w="9525">
            <a:solidFill>
              <a:srgbClr val="C89A3B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7799831" y="1746504"/>
            <a:ext cx="286207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100" dirty="0">
                <a:b/>
                <a:solidFill>
                  <a:srgbClr val="1E252B"/>
                </a:solidFill>
                <a:latin typeface="Aptos"/>
              </a:rPr>
              <a:t>Success criteria</a:t>
            </a:r>
            <a:endParaRPr lang="en-US" sz="1100" dirty="0"/>
          </a:p>
        </p:txBody>
      </p:sp>
      <p:sp>
        <p:nvSpPr>
          <p:cNvPr id="25" name="TextBox 25"/>
          <p:cNvSpPr txBox="1"/>
          <p:nvPr/>
        </p:nvSpPr>
        <p:spPr>
          <a:xfrm>
            <a:off x="7799831" y="2103120"/>
            <a:ext cx="2843784" cy="2788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40" dirty="0">
                <a:solidFill>
                  <a:srgbClr val="6B6460"/>
                </a:solidFill>
                <a:latin typeface="Aptos"/>
              </a:rPr>
              <a:t>Handle long audio, show progress, use local speech and LLM components, and deliver reports through a production email API.</a:t>
            </a:r>
            <a:endParaRPr lang="en-US" sz="840" dirty="0"/>
          </a:p>
        </p:txBody>
      </p:sp>
      <p:sp>
        <p:nvSpPr>
          <p:cNvPr id="11" name="TextBox 11"/>
          <p:cNvSpPr txBox="1"/>
          <p:nvPr/>
        </p:nvSpPr>
        <p:spPr>
          <a:xfrm>
            <a:off x="566928" y="6446520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650" dirty="0">
                <a:solidFill>
                  <a:srgbClr val="7E7468"/>
                </a:solidFill>
                <a:latin typeface="Aptos"/>
              </a:rPr>
              <a:t>Post-Meeting Summary Bot case study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9525">
            <a:solidFill>
              <a:srgbClr val="F7F4EE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66928" y="384048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00" dirty="0">
                <a:b/>
                <a:solidFill>
                  <a:srgbClr val="B65035"/>
                </a:solidFill>
                <a:latin typeface="Aptos"/>
              </a:rPr>
              <a:t>ARCHITECTURE</a:t>
            </a:r>
            <a:endParaRPr lang="en-US" sz="800" dirty="0"/>
          </a:p>
        </p:txBody>
      </p:sp>
      <p:sp>
        <p:nvSpPr>
          <p:cNvPr id="13" name="TextBox 13"/>
          <p:cNvSpPr txBox="1"/>
          <p:nvPr/>
        </p:nvSpPr>
        <p:spPr>
          <a:xfrm>
            <a:off x="566928" y="694944"/>
            <a:ext cx="8046720" cy="58521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300" dirty="0">
                <a:b/>
                <a:solidFill>
                  <a:srgbClr val="1E252B"/>
                </a:solidFill>
                <a:latin typeface="Aptos"/>
              </a:rPr>
              <a:t>The system is a staged audio-to-insight pipeline.</a:t>
            </a:r>
            <a:endParaRPr lang="en-US" sz="2300" dirty="0"/>
          </a:p>
        </p:txBody>
      </p:sp>
      <p:sp>
        <p:nvSpPr>
          <p:cNvPr id="14" name="TextBox 14"/>
          <p:cNvSpPr txBox="1"/>
          <p:nvPr/>
        </p:nvSpPr>
        <p:spPr>
          <a:xfrm>
            <a:off x="8549640" y="50292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40" dirty="0">
                <a:solidFill>
                  <a:srgbClr val="6B6460"/>
                </a:solidFill>
                <a:latin typeface="Aptos"/>
              </a:rPr>
              <a:t>Simple UI; expensive work stays behind the API.</a:t>
            </a:r>
            <a:endParaRPr lang="en-US" sz="840" dirty="0"/>
          </a:p>
        </p:txBody>
      </p:sp>
      <p:sp>
        <p:nvSpPr>
          <p:cNvPr id="15" name="TextBox 15"/>
          <p:cNvSpPr txBox="1"/>
          <p:nvPr/>
        </p:nvSpPr>
        <p:spPr>
          <a:xfrm>
            <a:off x="841248" y="2103120"/>
            <a:ext cx="97840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700" dirty="0">
                <a:b/>
                <a:solidFill>
                  <a:srgbClr val="1E252B"/>
                </a:solidFill>
                <a:latin typeface="Aptos"/>
              </a:rPr>
              <a:t>Upload -&gt; Normalize -&gt; Diarize -&gt; Transcribe once -&gt; Summarize -&gt; Email</a:t>
            </a:r>
            <a:endParaRPr lang="en-US" sz="1700" dirty="0"/>
          </a:p>
        </p:txBody>
      </p:sp>
      <p:sp>
        <p:nvSpPr>
          <p:cNvPr id="16" name="Rect 16"/>
          <p:cNvSpPr/>
          <p:nvPr/>
        </p:nvSpPr>
        <p:spPr>
          <a:xfrm>
            <a:off x="731520" y="3566160"/>
            <a:ext cx="29260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5"/>
            </a:solidFill>
          </a:ln>
        </p:spPr>
      </p:sp>
      <p:sp>
        <p:nvSpPr>
          <p:cNvPr id="17" name="Rect 17"/>
          <p:cNvSpPr/>
          <p:nvPr/>
        </p:nvSpPr>
        <p:spPr>
          <a:xfrm>
            <a:off x="731520" y="3566160"/>
            <a:ext cx="54864" cy="1234440"/>
          </a:xfrm>
          <a:prstGeom prst="rect">
            <a:avLst/>
          </a:prstGeom>
          <a:solidFill>
            <a:srgbClr val="247C78"/>
          </a:solidFill>
          <a:ln w="9525">
            <a:solidFill>
              <a:srgbClr val="247C78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896112" y="3712463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100" dirty="0">
                <a:b/>
                <a:solidFill>
                  <a:srgbClr val="1E252B"/>
                </a:solidFill>
                <a:latin typeface="Aptos"/>
              </a:rPr>
              <a:t>Backend</a:t>
            </a:r>
            <a:endParaRPr lang="en-US" sz="1100" dirty="0"/>
          </a:p>
        </p:txBody>
      </p:sp>
      <p:sp>
        <p:nvSpPr>
          <p:cNvPr id="19" name="TextBox 19"/>
          <p:cNvSpPr txBox="1"/>
          <p:nvPr/>
        </p:nvSpPr>
        <p:spPr>
          <a:xfrm>
            <a:off x="896112" y="4069080"/>
            <a:ext cx="2615184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40" dirty="0">
                <a:solidFill>
                  <a:srgbClr val="6B6460"/>
                </a:solidFill>
                <a:latin typeface="Aptos"/>
              </a:rPr>
              <a:t>FastAPI accepts uploads, tracks in-memory job state, runs background processing, and exposes job polling.</a:t>
            </a:r>
            <a:endParaRPr lang="en-US" sz="840" dirty="0"/>
          </a:p>
        </p:txBody>
      </p:sp>
      <p:sp>
        <p:nvSpPr>
          <p:cNvPr id="20" name="Rect 20"/>
          <p:cNvSpPr/>
          <p:nvPr/>
        </p:nvSpPr>
        <p:spPr>
          <a:xfrm>
            <a:off x="4069080" y="3566160"/>
            <a:ext cx="29260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5"/>
            </a:solidFill>
          </a:ln>
        </p:spPr>
      </p:sp>
      <p:sp>
        <p:nvSpPr>
          <p:cNvPr id="21" name="Rect 21"/>
          <p:cNvSpPr/>
          <p:nvPr/>
        </p:nvSpPr>
        <p:spPr>
          <a:xfrm>
            <a:off x="4069080" y="3566160"/>
            <a:ext cx="54864" cy="1234440"/>
          </a:xfrm>
          <a:prstGeom prst="rect">
            <a:avLst/>
          </a:prstGeom>
          <a:solidFill>
            <a:srgbClr val="B65035"/>
          </a:solidFill>
          <a:ln w="9525">
            <a:solidFill>
              <a:srgbClr val="B65035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4233672" y="3712463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100" dirty="0">
                <a:b/>
                <a:solidFill>
                  <a:srgbClr val="1E252B"/>
                </a:solidFill>
                <a:latin typeface="Aptos"/>
              </a:rPr>
              <a:t>ML components</a:t>
            </a:r>
            <a:endParaRPr lang="en-US" sz="1100" dirty="0"/>
          </a:p>
        </p:txBody>
      </p:sp>
      <p:sp>
        <p:nvSpPr>
          <p:cNvPr id="23" name="TextBox 23"/>
          <p:cNvSpPr txBox="1"/>
          <p:nvPr/>
        </p:nvSpPr>
        <p:spPr>
          <a:xfrm>
            <a:off x="4233672" y="4069080"/>
            <a:ext cx="2615184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40" dirty="0">
                <a:solidFill>
                  <a:srgbClr val="6B6460"/>
                </a:solidFill>
                <a:latin typeface="Aptos"/>
              </a:rPr>
              <a:t>Pyannote identifies speaker regions. Vosk produces timestamped words. Ollama writes summaries and coaching.</a:t>
            </a:r>
            <a:endParaRPr lang="en-US" sz="840" dirty="0"/>
          </a:p>
        </p:txBody>
      </p:sp>
      <p:sp>
        <p:nvSpPr>
          <p:cNvPr id="24" name="Rect 24"/>
          <p:cNvSpPr/>
          <p:nvPr/>
        </p:nvSpPr>
        <p:spPr>
          <a:xfrm>
            <a:off x="7406640" y="3566160"/>
            <a:ext cx="29260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5"/>
            </a:solidFill>
          </a:ln>
        </p:spPr>
      </p:sp>
      <p:sp>
        <p:nvSpPr>
          <p:cNvPr id="25" name="Rect 25"/>
          <p:cNvSpPr/>
          <p:nvPr/>
        </p:nvSpPr>
        <p:spPr>
          <a:xfrm>
            <a:off x="7406640" y="3566160"/>
            <a:ext cx="54864" cy="1234440"/>
          </a:xfrm>
          <a:prstGeom prst="rect">
            <a:avLst/>
          </a:prstGeom>
          <a:solidFill>
            <a:srgbClr val="C89A3B"/>
          </a:solidFill>
          <a:ln w="9525">
            <a:solidFill>
              <a:srgbClr val="C89A3B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571231" y="3712463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100" dirty="0">
                <a:b/>
                <a:solidFill>
                  <a:srgbClr val="1E252B"/>
                </a:solidFill>
                <a:latin typeface="Aptos"/>
              </a:rPr>
              <a:t>Delivery</a:t>
            </a:r>
            <a:endParaRPr lang="en-US" sz="1100" dirty="0"/>
          </a:p>
        </p:txBody>
      </p:sp>
      <p:sp>
        <p:nvSpPr>
          <p:cNvPr id="27" name="TextBox 27"/>
          <p:cNvSpPr txBox="1"/>
          <p:nvPr/>
        </p:nvSpPr>
        <p:spPr>
          <a:xfrm>
            <a:off x="7571231" y="4069080"/>
            <a:ext cx="2615184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40" dirty="0">
                <a:solidFill>
                  <a:srgbClr val="6B6460"/>
                </a:solidFill>
                <a:latin typeface="Aptos"/>
              </a:rPr>
              <a:t>Resend sends reports while React displays progress and final transcript, summary, and feedback.</a:t>
            </a:r>
            <a:endParaRPr lang="en-US" sz="840" dirty="0"/>
          </a:p>
        </p:txBody>
      </p:sp>
      <p:sp>
        <p:nvSpPr>
          <p:cNvPr id="11" name="TextBox 11"/>
          <p:cNvSpPr txBox="1"/>
          <p:nvPr/>
        </p:nvSpPr>
        <p:spPr>
          <a:xfrm>
            <a:off x="566928" y="6446520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650" dirty="0">
                <a:solidFill>
                  <a:srgbClr val="7E7468"/>
                </a:solidFill>
                <a:latin typeface="Aptos"/>
              </a:rPr>
              <a:t>Post-Meeting Summary Bot case study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9525">
            <a:solidFill>
              <a:srgbClr val="F7F4EE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66928" y="384048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00" dirty="0">
                <a:b/>
                <a:solidFill>
                  <a:srgbClr val="B65035"/>
                </a:solidFill>
                <a:latin typeface="Aptos"/>
              </a:rPr>
              <a:t>IMPLEMENTATION</a:t>
            </a:r>
            <a:endParaRPr lang="en-US" sz="800" dirty="0"/>
          </a:p>
        </p:txBody>
      </p:sp>
      <p:sp>
        <p:nvSpPr>
          <p:cNvPr id="13" name="TextBox 13"/>
          <p:cNvSpPr txBox="1"/>
          <p:nvPr/>
        </p:nvSpPr>
        <p:spPr>
          <a:xfrm>
            <a:off x="566928" y="694944"/>
            <a:ext cx="8046720" cy="58521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300" dirty="0">
                <a:b/>
                <a:solidFill>
                  <a:srgbClr val="1E252B"/>
                </a:solidFill>
                <a:latin typeface="Aptos"/>
              </a:rPr>
              <a:t>The case evolved through practical debugging.</a:t>
            </a:r>
            <a:endParaRPr lang="en-US" sz="2300" dirty="0"/>
          </a:p>
        </p:txBody>
      </p:sp>
      <p:sp>
        <p:nvSpPr>
          <p:cNvPr id="14" name="TextBox 14"/>
          <p:cNvSpPr txBox="1"/>
          <p:nvPr/>
        </p:nvSpPr>
        <p:spPr>
          <a:xfrm>
            <a:off x="8549640" y="50292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40" dirty="0">
                <a:solidFill>
                  <a:srgbClr val="6B6460"/>
                </a:solidFill>
                <a:latin typeface="Aptos"/>
              </a:rPr>
              <a:t>Runtime failures shaped the final design.</a:t>
            </a:r>
            <a:endParaRPr lang="en-US" sz="840" dirty="0"/>
          </a:p>
        </p:txBody>
      </p:sp>
      <p:sp>
        <p:nvSpPr>
          <p:cNvPr id="15" name="Rect 15"/>
          <p:cNvSpPr/>
          <p:nvPr/>
        </p:nvSpPr>
        <p:spPr>
          <a:xfrm>
            <a:off x="658368" y="1554480"/>
            <a:ext cx="242316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5"/>
            </a:solidFill>
          </a:ln>
        </p:spPr>
      </p:sp>
      <p:sp>
        <p:nvSpPr>
          <p:cNvPr id="16" name="Rect 16"/>
          <p:cNvSpPr/>
          <p:nvPr/>
        </p:nvSpPr>
        <p:spPr>
          <a:xfrm>
            <a:off x="658368" y="1554480"/>
            <a:ext cx="54864" cy="3383280"/>
          </a:xfrm>
          <a:prstGeom prst="rect">
            <a:avLst/>
          </a:prstGeom>
          <a:solidFill>
            <a:srgbClr val="B65035"/>
          </a:solidFill>
          <a:ln w="9525">
            <a:solidFill>
              <a:srgbClr val="B65035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822959" y="1700784"/>
            <a:ext cx="213055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100" dirty="0">
                <a:b/>
                <a:solidFill>
                  <a:srgbClr val="1E252B"/>
                </a:solidFill>
                <a:latin typeface="Aptos"/>
              </a:rPr>
              <a:t>Dependency reality</a:t>
            </a:r>
            <a:endParaRPr lang="en-US" sz="1100" dirty="0"/>
          </a:p>
        </p:txBody>
      </p:sp>
      <p:sp>
        <p:nvSpPr>
          <p:cNvPr id="18" name="TextBox 18"/>
          <p:cNvSpPr txBox="1"/>
          <p:nvPr/>
        </p:nvSpPr>
        <p:spPr>
          <a:xfrm>
            <a:off x="822959" y="2057400"/>
            <a:ext cx="2112264" cy="2788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40" dirty="0">
                <a:solidFill>
                  <a:srgbClr val="6B6460"/>
                </a:solidFill>
                <a:latin typeface="Aptos"/>
              </a:rPr>
              <a:t>Pyannote API drift required token handling, output unwrapping, and waveform input to bypass decoder issues.</a:t>
            </a:r>
            <a:endParaRPr lang="en-US" sz="840" dirty="0"/>
          </a:p>
        </p:txBody>
      </p:sp>
      <p:sp>
        <p:nvSpPr>
          <p:cNvPr id="19" name="Rect 19"/>
          <p:cNvSpPr/>
          <p:nvPr/>
        </p:nvSpPr>
        <p:spPr>
          <a:xfrm>
            <a:off x="3337560" y="1554480"/>
            <a:ext cx="242316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5"/>
            </a:solidFill>
          </a:ln>
        </p:spPr>
      </p:sp>
      <p:sp>
        <p:nvSpPr>
          <p:cNvPr id="20" name="Rect 20"/>
          <p:cNvSpPr/>
          <p:nvPr/>
        </p:nvSpPr>
        <p:spPr>
          <a:xfrm>
            <a:off x="3337560" y="1554480"/>
            <a:ext cx="54864" cy="3383280"/>
          </a:xfrm>
          <a:prstGeom prst="rect">
            <a:avLst/>
          </a:prstGeom>
          <a:solidFill>
            <a:srgbClr val="C89A3B"/>
          </a:solidFill>
          <a:ln w="9525">
            <a:solidFill>
              <a:srgbClr val="C89A3B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3502152" y="1700784"/>
            <a:ext cx="213055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100" dirty="0">
                <a:b/>
                <a:solidFill>
                  <a:srgbClr val="1E252B"/>
                </a:solidFill>
                <a:latin typeface="Aptos"/>
              </a:rPr>
              <a:t>Windows audio setup</a:t>
            </a:r>
            <a:endParaRPr lang="en-US" sz="1100" dirty="0"/>
          </a:p>
        </p:txBody>
      </p:sp>
      <p:sp>
        <p:nvSpPr>
          <p:cNvPr id="22" name="TextBox 22"/>
          <p:cNvSpPr txBox="1"/>
          <p:nvPr/>
        </p:nvSpPr>
        <p:spPr>
          <a:xfrm>
            <a:off x="3502152" y="2057400"/>
            <a:ext cx="2112264" cy="2788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40" dirty="0">
                <a:solidFill>
                  <a:srgbClr val="6B6460"/>
                </a:solidFill>
                <a:latin typeface="Aptos"/>
              </a:rPr>
              <a:t>FFmpeg and ffprobe were missing from PATH, then hardcoded and prepended before pydub import.</a:t>
            </a:r>
            <a:endParaRPr lang="en-US" sz="840" dirty="0"/>
          </a:p>
        </p:txBody>
      </p:sp>
      <p:sp>
        <p:nvSpPr>
          <p:cNvPr id="23" name="Rect 23"/>
          <p:cNvSpPr/>
          <p:nvPr/>
        </p:nvSpPr>
        <p:spPr>
          <a:xfrm>
            <a:off x="6016752" y="1554480"/>
            <a:ext cx="242316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5"/>
            </a:solidFill>
          </a:ln>
        </p:spPr>
      </p:sp>
      <p:sp>
        <p:nvSpPr>
          <p:cNvPr id="24" name="Rect 24"/>
          <p:cNvSpPr/>
          <p:nvPr/>
        </p:nvSpPr>
        <p:spPr>
          <a:xfrm>
            <a:off x="6016752" y="1554480"/>
            <a:ext cx="54864" cy="3383280"/>
          </a:xfrm>
          <a:prstGeom prst="rect">
            <a:avLst/>
          </a:prstGeom>
          <a:solidFill>
            <a:srgbClr val="247C78"/>
          </a:solidFill>
          <a:ln w="9525">
            <a:solidFill>
              <a:srgbClr val="247C7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181344" y="1700784"/>
            <a:ext cx="213055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100" dirty="0">
                <a:b/>
                <a:solidFill>
                  <a:srgbClr val="1E252B"/>
                </a:solidFill>
                <a:latin typeface="Aptos"/>
              </a:rPr>
              <a:t>Long jobs</a:t>
            </a:r>
            <a:endParaRPr lang="en-US" sz="1100" dirty="0"/>
          </a:p>
        </p:txBody>
      </p:sp>
      <p:sp>
        <p:nvSpPr>
          <p:cNvPr id="26" name="TextBox 26"/>
          <p:cNvSpPr txBox="1"/>
          <p:nvPr/>
        </p:nvSpPr>
        <p:spPr>
          <a:xfrm>
            <a:off x="6181344" y="2057400"/>
            <a:ext cx="2112264" cy="2788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40" dirty="0">
                <a:solidFill>
                  <a:srgbClr val="6B6460"/>
                </a:solidFill>
                <a:latin typeface="Aptos"/>
              </a:rPr>
              <a:t>Frontend polling moved from a 10-minute ceiling to a 2-hour window with visible processing stages.</a:t>
            </a:r>
            <a:endParaRPr lang="en-US" sz="840" dirty="0"/>
          </a:p>
        </p:txBody>
      </p:sp>
      <p:sp>
        <p:nvSpPr>
          <p:cNvPr id="27" name="Rect 27"/>
          <p:cNvSpPr/>
          <p:nvPr/>
        </p:nvSpPr>
        <p:spPr>
          <a:xfrm>
            <a:off x="8686800" y="1554480"/>
            <a:ext cx="242316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5"/>
            </a:solidFill>
          </a:ln>
        </p:spPr>
      </p:sp>
      <p:sp>
        <p:nvSpPr>
          <p:cNvPr id="28" name="Rect 28"/>
          <p:cNvSpPr/>
          <p:nvPr/>
        </p:nvSpPr>
        <p:spPr>
          <a:xfrm>
            <a:off x="8686800" y="1554480"/>
            <a:ext cx="54864" cy="3383280"/>
          </a:xfrm>
          <a:prstGeom prst="rect">
            <a:avLst/>
          </a:prstGeom>
          <a:solidFill>
            <a:srgbClr val="9AA77B"/>
          </a:solidFill>
          <a:ln w="9525">
            <a:solidFill>
              <a:srgbClr val="9AA77B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8851392" y="1700784"/>
            <a:ext cx="213055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100" dirty="0">
                <a:b/>
                <a:solidFill>
                  <a:srgbClr val="1E252B"/>
                </a:solidFill>
                <a:latin typeface="Aptos"/>
              </a:rPr>
              <a:t>Email delivery</a:t>
            </a:r>
            <a:endParaRPr lang="en-US" sz="1100" dirty="0"/>
          </a:p>
        </p:txBody>
      </p:sp>
      <p:sp>
        <p:nvSpPr>
          <p:cNvPr id="30" name="TextBox 30"/>
          <p:cNvSpPr txBox="1"/>
          <p:nvPr/>
        </p:nvSpPr>
        <p:spPr>
          <a:xfrm>
            <a:off x="8851392" y="2057400"/>
            <a:ext cx="2112264" cy="2788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40" dirty="0">
                <a:solidFill>
                  <a:srgbClr val="6B6460"/>
                </a:solidFill>
                <a:latin typeface="Aptos"/>
              </a:rPr>
              <a:t>SMTP/Gmail was replaced with Resend using an API key and verified sender.</a:t>
            </a:r>
            <a:endParaRPr lang="en-US" sz="840" dirty="0"/>
          </a:p>
        </p:txBody>
      </p:sp>
      <p:sp>
        <p:nvSpPr>
          <p:cNvPr id="11" name="TextBox 11"/>
          <p:cNvSpPr txBox="1"/>
          <p:nvPr/>
        </p:nvSpPr>
        <p:spPr>
          <a:xfrm>
            <a:off x="566928" y="6446520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650" dirty="0">
                <a:solidFill>
                  <a:srgbClr val="7E7468"/>
                </a:solidFill>
                <a:latin typeface="Aptos"/>
              </a:rPr>
              <a:t>Post-Meeting Summary Bot case study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9525">
            <a:solidFill>
              <a:srgbClr val="F7F4EE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66928" y="384048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00" dirty="0">
                <a:b/>
                <a:solidFill>
                  <a:srgbClr val="B65035"/>
                </a:solidFill>
                <a:latin typeface="Aptos"/>
              </a:rPr>
              <a:t>OPTIMIZATION</a:t>
            </a:r>
            <a:endParaRPr lang="en-US" sz="800" dirty="0"/>
          </a:p>
        </p:txBody>
      </p:sp>
      <p:sp>
        <p:nvSpPr>
          <p:cNvPr id="13" name="TextBox 13"/>
          <p:cNvSpPr txBox="1"/>
          <p:nvPr/>
        </p:nvSpPr>
        <p:spPr>
          <a:xfrm>
            <a:off x="566928" y="694944"/>
            <a:ext cx="8046720" cy="58521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300" dirty="0">
                <a:b/>
                <a:solidFill>
                  <a:srgbClr val="1E252B"/>
                </a:solidFill>
                <a:latin typeface="Aptos"/>
              </a:rPr>
              <a:t>The biggest speedup came from eliminating repeated transcription.</a:t>
            </a:r>
            <a:endParaRPr lang="en-US" sz="2300" dirty="0"/>
          </a:p>
        </p:txBody>
      </p:sp>
      <p:sp>
        <p:nvSpPr>
          <p:cNvPr id="14" name="TextBox 14"/>
          <p:cNvSpPr txBox="1"/>
          <p:nvPr/>
        </p:nvSpPr>
        <p:spPr>
          <a:xfrm>
            <a:off x="8549640" y="50292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40" dirty="0">
                <a:solidFill>
                  <a:srgbClr val="6B6460"/>
                </a:solidFill>
                <a:latin typeface="Aptos"/>
              </a:rPr>
              <a:t>Faster because the app now asks Vosk to do less work.</a:t>
            </a:r>
            <a:endParaRPr lang="en-US" sz="840" dirty="0"/>
          </a:p>
        </p:txBody>
      </p:sp>
      <p:sp>
        <p:nvSpPr>
          <p:cNvPr id="15" name="Rect 15"/>
          <p:cNvSpPr/>
          <p:nvPr/>
        </p:nvSpPr>
        <p:spPr>
          <a:xfrm>
            <a:off x="822960" y="1691640"/>
            <a:ext cx="42519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5"/>
            </a:solidFill>
          </a:ln>
        </p:spPr>
      </p:sp>
      <p:sp>
        <p:nvSpPr>
          <p:cNvPr id="16" name="Rect 16"/>
          <p:cNvSpPr/>
          <p:nvPr/>
        </p:nvSpPr>
        <p:spPr>
          <a:xfrm>
            <a:off x="822960" y="1691640"/>
            <a:ext cx="54864" cy="2011680"/>
          </a:xfrm>
          <a:prstGeom prst="rect">
            <a:avLst/>
          </a:prstGeom>
          <a:solidFill>
            <a:srgbClr val="B65035"/>
          </a:solidFill>
          <a:ln w="9525">
            <a:solidFill>
              <a:srgbClr val="B65035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87552" y="1837944"/>
            <a:ext cx="395935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100" dirty="0">
                <a:b/>
                <a:solidFill>
                  <a:srgbClr val="1E252B"/>
                </a:solidFill>
                <a:latin typeface="Aptos"/>
              </a:rPr>
              <a:t>Before</a:t>
            </a:r>
            <a:endParaRPr lang="en-US" sz="1100" dirty="0"/>
          </a:p>
        </p:txBody>
      </p:sp>
      <p:sp>
        <p:nvSpPr>
          <p:cNvPr id="18" name="TextBox 18"/>
          <p:cNvSpPr txBox="1"/>
          <p:nvPr/>
        </p:nvSpPr>
        <p:spPr>
          <a:xfrm>
            <a:off x="987552" y="2194560"/>
            <a:ext cx="3941064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40" dirty="0">
                <a:solidFill>
                  <a:srgbClr val="6B6460"/>
                </a:solidFill>
                <a:latin typeface="Aptos"/>
              </a:rPr>
              <a:t>Diarize -&gt; export each speaker clip -&gt; transcribe each clip -&gt; combine. This produced many temporary files and many Vosk calls.</a:t>
            </a:r>
            <a:endParaRPr lang="en-US" sz="840" dirty="0"/>
          </a:p>
        </p:txBody>
      </p:sp>
      <p:sp>
        <p:nvSpPr>
          <p:cNvPr id="19" name="Rect 19"/>
          <p:cNvSpPr/>
          <p:nvPr/>
        </p:nvSpPr>
        <p:spPr>
          <a:xfrm>
            <a:off x="6400800" y="1691640"/>
            <a:ext cx="42519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5"/>
            </a:solidFill>
          </a:ln>
        </p:spPr>
      </p:sp>
      <p:sp>
        <p:nvSpPr>
          <p:cNvPr id="20" name="Rect 20"/>
          <p:cNvSpPr/>
          <p:nvPr/>
        </p:nvSpPr>
        <p:spPr>
          <a:xfrm>
            <a:off x="6400800" y="1691640"/>
            <a:ext cx="54864" cy="2011680"/>
          </a:xfrm>
          <a:prstGeom prst="rect">
            <a:avLst/>
          </a:prstGeom>
          <a:solidFill>
            <a:srgbClr val="247C78"/>
          </a:solidFill>
          <a:ln w="9525">
            <a:solidFill>
              <a:srgbClr val="247C78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565392" y="1837944"/>
            <a:ext cx="395935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100" dirty="0">
                <a:b/>
                <a:solidFill>
                  <a:srgbClr val="1E252B"/>
                </a:solidFill>
                <a:latin typeface="Aptos"/>
              </a:rPr>
              <a:t>After</a:t>
            </a:r>
            <a:endParaRPr lang="en-US" sz="1100" dirty="0"/>
          </a:p>
        </p:txBody>
      </p:sp>
      <p:sp>
        <p:nvSpPr>
          <p:cNvPr id="22" name="TextBox 22"/>
          <p:cNvSpPr txBox="1"/>
          <p:nvPr/>
        </p:nvSpPr>
        <p:spPr>
          <a:xfrm>
            <a:off x="6565392" y="2194560"/>
            <a:ext cx="3941064" cy="1417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40" dirty="0">
                <a:solidFill>
                  <a:srgbClr val="6B6460"/>
                </a:solidFill>
                <a:latin typeface="Aptos"/>
              </a:rPr>
              <a:t>Diarize once -&gt; transcribe full audio once -&gt; assign timestamped words to speaker regions. This removes the expensive loop.</a:t>
            </a:r>
            <a:endParaRPr lang="en-US" sz="840" dirty="0"/>
          </a:p>
        </p:txBody>
      </p:sp>
      <p:sp>
        <p:nvSpPr>
          <p:cNvPr id="23" name="Rect 23"/>
          <p:cNvSpPr/>
          <p:nvPr/>
        </p:nvSpPr>
        <p:spPr>
          <a:xfrm>
            <a:off x="3246120" y="4343400"/>
            <a:ext cx="5212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5"/>
            </a:solidFill>
          </a:ln>
        </p:spPr>
      </p:sp>
      <p:sp>
        <p:nvSpPr>
          <p:cNvPr id="24" name="Rect 24"/>
          <p:cNvSpPr/>
          <p:nvPr/>
        </p:nvSpPr>
        <p:spPr>
          <a:xfrm>
            <a:off x="3246120" y="4343400"/>
            <a:ext cx="54864" cy="914400"/>
          </a:xfrm>
          <a:prstGeom prst="rect">
            <a:avLst/>
          </a:prstGeom>
          <a:solidFill>
            <a:srgbClr val="C89A3B"/>
          </a:solidFill>
          <a:ln w="9525">
            <a:solidFill>
              <a:srgbClr val="C89A3B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3410712" y="4489704"/>
            <a:ext cx="491947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100" dirty="0">
                <a:b/>
                <a:solidFill>
                  <a:srgbClr val="1E252B"/>
                </a:solidFill>
                <a:latin typeface="Aptos"/>
              </a:rPr>
              <a:t>Tradeoff</a:t>
            </a:r>
            <a:endParaRPr lang="en-US" sz="1100" dirty="0"/>
          </a:p>
        </p:txBody>
      </p:sp>
      <p:sp>
        <p:nvSpPr>
          <p:cNvPr id="26" name="TextBox 26"/>
          <p:cNvSpPr txBox="1"/>
          <p:nvPr/>
        </p:nvSpPr>
        <p:spPr>
          <a:xfrm>
            <a:off x="3410712" y="4846320"/>
            <a:ext cx="4901184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40" dirty="0">
                <a:solidFill>
                  <a:srgbClr val="6B6460"/>
                </a:solidFill>
                <a:latin typeface="Aptos"/>
              </a:rPr>
              <a:t>Speaker attribution is timestamp-based, so boundary words can occasionally land on a neighboring speaker. For summaries and coaching, this is usually acceptable.</a:t>
            </a:r>
            <a:endParaRPr lang="en-US" sz="840" dirty="0"/>
          </a:p>
        </p:txBody>
      </p:sp>
      <p:sp>
        <p:nvSpPr>
          <p:cNvPr id="11" name="TextBox 11"/>
          <p:cNvSpPr txBox="1"/>
          <p:nvPr/>
        </p:nvSpPr>
        <p:spPr>
          <a:xfrm>
            <a:off x="566928" y="6446520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650" dirty="0">
                <a:solidFill>
                  <a:srgbClr val="7E7468"/>
                </a:solidFill>
                <a:latin typeface="Aptos"/>
              </a:rPr>
              <a:t>Post-Meeting Summary Bot case study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9525">
            <a:solidFill>
              <a:srgbClr val="F7F4EE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66928" y="384048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00" dirty="0">
                <a:b/>
                <a:solidFill>
                  <a:srgbClr val="B65035"/>
                </a:solidFill>
                <a:latin typeface="Aptos"/>
              </a:rPr>
              <a:t>CURRENT STATE</a:t>
            </a:r>
            <a:endParaRPr lang="en-US" sz="800" dirty="0"/>
          </a:p>
        </p:txBody>
      </p:sp>
      <p:sp>
        <p:nvSpPr>
          <p:cNvPr id="13" name="TextBox 13"/>
          <p:cNvSpPr txBox="1"/>
          <p:nvPr/>
        </p:nvSpPr>
        <p:spPr>
          <a:xfrm>
            <a:off x="566928" y="694944"/>
            <a:ext cx="8046720" cy="58521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300" dirty="0">
                <a:b/>
                <a:solidFill>
                  <a:srgbClr val="1E252B"/>
                </a:solidFill>
                <a:latin typeface="Aptos"/>
              </a:rPr>
              <a:t>The project is functional, with clear hardening paths.</a:t>
            </a:r>
            <a:endParaRPr lang="en-US" sz="2300" dirty="0"/>
          </a:p>
        </p:txBody>
      </p:sp>
      <p:sp>
        <p:nvSpPr>
          <p:cNvPr id="15" name="TextBox 15"/>
          <p:cNvSpPr txBox="1"/>
          <p:nvPr/>
        </p:nvSpPr>
        <p:spPr>
          <a:xfrm>
            <a:off x="868680" y="1572768"/>
            <a:ext cx="3840480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500" dirty="0">
                <a:b/>
                <a:solidFill>
                  <a:srgbClr val="247C78"/>
                </a:solidFill>
                <a:latin typeface="Aptos"/>
              </a:rPr>
              <a:t>Resolved: pyannote API + FFmpeg pathing</a:t>
            </a:r>
            <a:endParaRPr lang="en-US" sz="1500" dirty="0"/>
          </a:p>
        </p:txBody>
      </p:sp>
      <p:sp>
        <p:nvSpPr>
          <p:cNvPr id="16" name="TextBox 16"/>
          <p:cNvSpPr txBox="1"/>
          <p:nvPr/>
        </p:nvSpPr>
        <p:spPr>
          <a:xfrm>
            <a:off x="5440680" y="1572768"/>
            <a:ext cx="4663440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500" dirty="0">
                <a:b/>
                <a:solidFill>
                  <a:srgbClr val="B65035"/>
                </a:solidFill>
                <a:latin typeface="Aptos"/>
              </a:rPr>
              <a:t>Improved: long-audio progress + Resend delivery</a:t>
            </a:r>
            <a:endParaRPr lang="en-US" sz="1500" dirty="0"/>
          </a:p>
        </p:txBody>
      </p:sp>
      <p:sp>
        <p:nvSpPr>
          <p:cNvPr id="17" name="Rect 17"/>
          <p:cNvSpPr/>
          <p:nvPr/>
        </p:nvSpPr>
        <p:spPr>
          <a:xfrm>
            <a:off x="749808" y="2880360"/>
            <a:ext cx="3063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5"/>
            </a:solidFill>
          </a:ln>
        </p:spPr>
      </p:sp>
      <p:sp>
        <p:nvSpPr>
          <p:cNvPr id="18" name="Rect 18"/>
          <p:cNvSpPr/>
          <p:nvPr/>
        </p:nvSpPr>
        <p:spPr>
          <a:xfrm>
            <a:off x="749808" y="2880360"/>
            <a:ext cx="54864" cy="1371600"/>
          </a:xfrm>
          <a:prstGeom prst="rect">
            <a:avLst/>
          </a:prstGeom>
          <a:solidFill>
            <a:srgbClr val="247C78"/>
          </a:solidFill>
          <a:ln w="9525">
            <a:solidFill>
              <a:srgbClr val="247C7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14400" y="3026664"/>
            <a:ext cx="277063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100" dirty="0">
                <a:b/>
                <a:solidFill>
                  <a:srgbClr val="1E252B"/>
                </a:solidFill>
                <a:latin typeface="Aptos"/>
              </a:rPr>
              <a:t>What works</a:t>
            </a:r>
            <a:endParaRPr lang="en-US" sz="1100" dirty="0"/>
          </a:p>
        </p:txBody>
      </p:sp>
      <p:sp>
        <p:nvSpPr>
          <p:cNvPr id="20" name="TextBox 20"/>
          <p:cNvSpPr txBox="1"/>
          <p:nvPr/>
        </p:nvSpPr>
        <p:spPr>
          <a:xfrm>
            <a:off x="914400" y="3383280"/>
            <a:ext cx="2752344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40" dirty="0">
                <a:solidFill>
                  <a:srgbClr val="6B6460"/>
                </a:solidFill>
                <a:latin typeface="Aptos"/>
              </a:rPr>
              <a:t>Upload, normalize, diarize, transcribe once, summarize, coach, poll job state, and send email through Resend.</a:t>
            </a:r>
            <a:endParaRPr lang="en-US" sz="840" dirty="0"/>
          </a:p>
        </p:txBody>
      </p:sp>
      <p:sp>
        <p:nvSpPr>
          <p:cNvPr id="21" name="Rect 21"/>
          <p:cNvSpPr/>
          <p:nvPr/>
        </p:nvSpPr>
        <p:spPr>
          <a:xfrm>
            <a:off x="4160520" y="2880360"/>
            <a:ext cx="3063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5"/>
            </a:solidFill>
          </a:ln>
        </p:spPr>
      </p:sp>
      <p:sp>
        <p:nvSpPr>
          <p:cNvPr id="22" name="Rect 22"/>
          <p:cNvSpPr/>
          <p:nvPr/>
        </p:nvSpPr>
        <p:spPr>
          <a:xfrm>
            <a:off x="4160520" y="2880360"/>
            <a:ext cx="54864" cy="1371600"/>
          </a:xfrm>
          <a:prstGeom prst="rect">
            <a:avLst/>
          </a:prstGeom>
          <a:solidFill>
            <a:srgbClr val="B65035"/>
          </a:solidFill>
          <a:ln w="9525">
            <a:solidFill>
              <a:srgbClr val="B65035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4325112" y="3026664"/>
            <a:ext cx="277063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100" dirty="0">
                <a:b/>
                <a:solidFill>
                  <a:srgbClr val="1E252B"/>
                </a:solidFill>
                <a:latin typeface="Aptos"/>
              </a:rPr>
              <a:t>What remains</a:t>
            </a:r>
            <a:endParaRPr lang="en-US" sz="1100" dirty="0"/>
          </a:p>
        </p:txBody>
      </p:sp>
      <p:sp>
        <p:nvSpPr>
          <p:cNvPr id="24" name="TextBox 24"/>
          <p:cNvSpPr txBox="1"/>
          <p:nvPr/>
        </p:nvSpPr>
        <p:spPr>
          <a:xfrm>
            <a:off x="4325112" y="3383280"/>
            <a:ext cx="2752344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40" dirty="0">
                <a:solidFill>
                  <a:srgbClr val="6B6460"/>
                </a:solidFill>
                <a:latin typeface="Aptos"/>
              </a:rPr>
              <a:t>Persistent job storage, cancellation, editable speaker names, export formats, and stronger UX states for long ML work.</a:t>
            </a:r>
            <a:endParaRPr lang="en-US" sz="840" dirty="0"/>
          </a:p>
        </p:txBody>
      </p:sp>
      <p:sp>
        <p:nvSpPr>
          <p:cNvPr id="25" name="Rect 25"/>
          <p:cNvSpPr/>
          <p:nvPr/>
        </p:nvSpPr>
        <p:spPr>
          <a:xfrm>
            <a:off x="7543800" y="2880360"/>
            <a:ext cx="3063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5"/>
            </a:solidFill>
          </a:ln>
        </p:spPr>
      </p:sp>
      <p:sp>
        <p:nvSpPr>
          <p:cNvPr id="26" name="Rect 26"/>
          <p:cNvSpPr/>
          <p:nvPr/>
        </p:nvSpPr>
        <p:spPr>
          <a:xfrm>
            <a:off x="7543800" y="2880360"/>
            <a:ext cx="54864" cy="1371600"/>
          </a:xfrm>
          <a:prstGeom prst="rect">
            <a:avLst/>
          </a:prstGeom>
          <a:solidFill>
            <a:srgbClr val="C89A3B"/>
          </a:solidFill>
          <a:ln w="9525">
            <a:solidFill>
              <a:srgbClr val="C89A3B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7708392" y="3026664"/>
            <a:ext cx="277063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100" dirty="0">
                <a:b/>
                <a:solidFill>
                  <a:srgbClr val="1E252B"/>
                </a:solidFill>
                <a:latin typeface="Aptos"/>
              </a:rPr>
              <a:t>Best next feature</a:t>
            </a:r>
            <a:endParaRPr lang="en-US" sz="1100" dirty="0"/>
          </a:p>
        </p:txBody>
      </p:sp>
      <p:sp>
        <p:nvSpPr>
          <p:cNvPr id="28" name="TextBox 28"/>
          <p:cNvSpPr txBox="1"/>
          <p:nvPr/>
        </p:nvSpPr>
        <p:spPr>
          <a:xfrm>
            <a:off x="7708392" y="3383280"/>
            <a:ext cx="2752344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40" dirty="0">
                <a:solidFill>
                  <a:srgbClr val="6B6460"/>
                </a:solidFill>
                <a:latin typeface="Aptos"/>
              </a:rPr>
              <a:t>Speaker-name correction before summary or email would make results more human and reduce review friction.</a:t>
            </a:r>
            <a:endParaRPr lang="en-US" sz="840" dirty="0"/>
          </a:p>
        </p:txBody>
      </p:sp>
      <p:sp>
        <p:nvSpPr>
          <p:cNvPr id="11" name="TextBox 11"/>
          <p:cNvSpPr txBox="1"/>
          <p:nvPr/>
        </p:nvSpPr>
        <p:spPr>
          <a:xfrm>
            <a:off x="566928" y="6446520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650" dirty="0">
                <a:solidFill>
                  <a:srgbClr val="7E7468"/>
                </a:solidFill>
                <a:latin typeface="Aptos"/>
              </a:rPr>
              <a:t>Post-Meeting Summary Bot case study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9525">
            <a:solidFill>
              <a:srgbClr val="F7F4EE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66928" y="384048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00" dirty="0">
                <a:b/>
                <a:solidFill>
                  <a:srgbClr val="B65035"/>
                </a:solidFill>
                <a:latin typeface="Aptos"/>
              </a:rPr>
              <a:t>LESSONS</a:t>
            </a:r>
            <a:endParaRPr lang="en-US" sz="800" dirty="0"/>
          </a:p>
        </p:txBody>
      </p:sp>
      <p:sp>
        <p:nvSpPr>
          <p:cNvPr id="13" name="TextBox 13"/>
          <p:cNvSpPr txBox="1"/>
          <p:nvPr/>
        </p:nvSpPr>
        <p:spPr>
          <a:xfrm>
            <a:off x="566928" y="694944"/>
            <a:ext cx="8046720" cy="58521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300" dirty="0">
                <a:b/>
                <a:solidFill>
                  <a:srgbClr val="1E252B"/>
                </a:solidFill>
                <a:latin typeface="Aptos"/>
              </a:rPr>
              <a:t>The main lesson: orchestration matters as much as models.</a:t>
            </a:r>
            <a:endParaRPr lang="en-US" sz="2300" dirty="0"/>
          </a:p>
        </p:txBody>
      </p:sp>
      <p:sp>
        <p:nvSpPr>
          <p:cNvPr id="14" name="TextBox 14"/>
          <p:cNvSpPr txBox="1"/>
          <p:nvPr/>
        </p:nvSpPr>
        <p:spPr>
          <a:xfrm>
            <a:off x="8549640" y="50292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40" dirty="0">
                <a:solidFill>
                  <a:srgbClr val="6B6460"/>
                </a:solidFill>
                <a:latin typeface="Aptos"/>
              </a:rPr>
              <a:t>A usable AI workflow is a product system, not just a model call.</a:t>
            </a:r>
            <a:endParaRPr lang="en-US" sz="840" dirty="0"/>
          </a:p>
        </p:txBody>
      </p:sp>
      <p:sp>
        <p:nvSpPr>
          <p:cNvPr id="14" name="TextBox 14"/>
          <p:cNvSpPr txBox="1"/>
          <p:nvPr/>
        </p:nvSpPr>
        <p:spPr>
          <a:xfrm>
            <a:off x="822960" y="1417320"/>
            <a:ext cx="5303520" cy="274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250" dirty="0">
                <a:solidFill>
                  <a:srgbClr val="1E252B"/>
                </a:solidFill>
                <a:latin typeface="Aptos"/>
              </a:rPr>
              <a:t>Local AI pipelines fail at integration boundaries: model API drift, codecs, process restarts, OS paths, and slow LLM calls.</a:t>
            </a:r>
          </a:p>
          <a:p>
            <a:r>
              <a:rPr lang="en-US" sz="900" dirty="0">
                <a:solidFill>
                  <a:srgbClr val="6B6460"/>
                </a:solidFill>
              </a:rPr>
              <a:t/>
            </a:r>
          </a:p>
          <a:p>
            <a:r>
              <a:rPr lang="en-US" sz="900" dirty="0">
                <a:solidFill>
                  <a:srgbClr val="6B6460"/>
                </a:solidFill>
              </a:rPr>
              <a:t>Progress reporting changes user trust even before raw speed improves.</a:t>
            </a:r>
          </a:p>
          <a:p>
            <a:r>
              <a:rPr lang="en-US" sz="900" dirty="0">
                <a:solidFill>
                  <a:srgbClr val="6B6460"/>
                </a:solidFill>
              </a:rPr>
              <a:t/>
            </a:r>
          </a:p>
          <a:p>
            <a:r>
              <a:rPr lang="en-US" sz="900" dirty="0">
                <a:solidFill>
                  <a:srgbClr val="6B6460"/>
                </a:solidFill>
              </a:rPr>
              <a:t>For long audio, doing less model work beats simply increasing timeouts.</a:t>
            </a:r>
            <a:endParaRPr lang="en-US" sz="1250" dirty="0"/>
          </a:p>
        </p:txBody>
      </p:sp>
      <p:sp>
        <p:nvSpPr>
          <p:cNvPr id="15" name="Rect 15"/>
          <p:cNvSpPr/>
          <p:nvPr/>
        </p:nvSpPr>
        <p:spPr>
          <a:xfrm>
            <a:off x="6537960" y="1417320"/>
            <a:ext cx="388620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5"/>
            </a:solidFill>
          </a:ln>
        </p:spPr>
      </p:sp>
      <p:sp>
        <p:nvSpPr>
          <p:cNvPr id="16" name="Rect 16"/>
          <p:cNvSpPr/>
          <p:nvPr/>
        </p:nvSpPr>
        <p:spPr>
          <a:xfrm>
            <a:off x="6537960" y="1417320"/>
            <a:ext cx="54864" cy="2423160"/>
          </a:xfrm>
          <a:prstGeom prst="rect">
            <a:avLst/>
          </a:prstGeom>
          <a:solidFill>
            <a:srgbClr val="247C78"/>
          </a:solidFill>
          <a:ln w="9525">
            <a:solidFill>
              <a:srgbClr val="247C78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702552" y="1563624"/>
            <a:ext cx="359359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100" dirty="0">
                <a:b/>
                <a:solidFill>
                  <a:srgbClr val="1E252B"/>
                </a:solidFill>
                <a:latin typeface="Aptos"/>
              </a:rPr>
              <a:t>Recommended roadmap</a:t>
            </a:r>
            <a:endParaRPr lang="en-US" sz="1100" dirty="0"/>
          </a:p>
        </p:txBody>
      </p:sp>
      <p:sp>
        <p:nvSpPr>
          <p:cNvPr id="18" name="TextBox 18"/>
          <p:cNvSpPr txBox="1"/>
          <p:nvPr/>
        </p:nvSpPr>
        <p:spPr>
          <a:xfrm>
            <a:off x="6702552" y="1920240"/>
            <a:ext cx="3575304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40" dirty="0">
                <a:solidFill>
                  <a:srgbClr val="6B6460"/>
                </a:solidFill>
                <a:latin typeface="Aptos"/>
              </a:rPr>
              <a:t>1. SQLite-backed job history</a:t>
            </a:r>
          </a:p>
          <a:p>
            <a:r>
              <a:rPr lang="en-US" sz="900" dirty="0">
                <a:solidFill>
                  <a:srgbClr val="6B6460"/>
                </a:solidFill>
              </a:rPr>
              <a:t>2. Cancel and retry controls</a:t>
            </a:r>
          </a:p>
          <a:p>
            <a:r>
              <a:rPr lang="en-US" sz="900" dirty="0">
                <a:solidFill>
                  <a:srgbClr val="6B6460"/>
                </a:solidFill>
              </a:rPr>
              <a:t>3. Real speaker-name mapping</a:t>
            </a:r>
          </a:p>
          <a:p>
            <a:r>
              <a:rPr lang="en-US" sz="900" dirty="0">
                <a:solidFill>
                  <a:srgbClr val="6B6460"/>
                </a:solidFill>
              </a:rPr>
              <a:t>4. DOCX/PDF export</a:t>
            </a:r>
          </a:p>
          <a:p>
            <a:r>
              <a:rPr lang="en-US" sz="900" dirty="0">
                <a:solidFill>
                  <a:srgbClr val="6B6460"/>
                </a:solidFill>
              </a:rPr>
              <a:t>5. Summary-only fast mode</a:t>
            </a:r>
            <a:endParaRPr lang="en-US" sz="840" dirty="0"/>
          </a:p>
        </p:txBody>
      </p:sp>
      <p:sp>
        <p:nvSpPr>
          <p:cNvPr id="19" name="Rect 19"/>
          <p:cNvSpPr/>
          <p:nvPr/>
        </p:nvSpPr>
        <p:spPr>
          <a:xfrm>
            <a:off x="6537960" y="4160520"/>
            <a:ext cx="38862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5"/>
            </a:solidFill>
          </a:ln>
        </p:spPr>
      </p:sp>
      <p:sp>
        <p:nvSpPr>
          <p:cNvPr id="20" name="Rect 20"/>
          <p:cNvSpPr/>
          <p:nvPr/>
        </p:nvSpPr>
        <p:spPr>
          <a:xfrm>
            <a:off x="6537960" y="4160520"/>
            <a:ext cx="54864" cy="960120"/>
          </a:xfrm>
          <a:prstGeom prst="rect">
            <a:avLst/>
          </a:prstGeom>
          <a:solidFill>
            <a:srgbClr val="B65035"/>
          </a:solidFill>
          <a:ln w="9525">
            <a:solidFill>
              <a:srgbClr val="B65035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702552" y="4306824"/>
            <a:ext cx="359359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100" dirty="0">
                <a:b/>
                <a:solidFill>
                  <a:srgbClr val="1E252B"/>
                </a:solidFill>
                <a:latin typeface="Aptos"/>
              </a:rPr>
              <a:t>Case-study takeaway</a:t>
            </a:r>
            <a:endParaRPr lang="en-US" sz="1100" dirty="0"/>
          </a:p>
        </p:txBody>
      </p:sp>
      <p:sp>
        <p:nvSpPr>
          <p:cNvPr id="22" name="TextBox 22"/>
          <p:cNvSpPr txBox="1"/>
          <p:nvPr/>
        </p:nvSpPr>
        <p:spPr>
          <a:xfrm>
            <a:off x="6702552" y="4663440"/>
            <a:ext cx="3575304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840" dirty="0">
                <a:solidFill>
                  <a:srgbClr val="6B6460"/>
                </a:solidFill>
                <a:latin typeface="Aptos"/>
              </a:rPr>
              <a:t>Real long-audio failures forced the pipeline to become more explicit, configurable, and observable.</a:t>
            </a:r>
            <a:endParaRPr lang="en-US" sz="840" dirty="0"/>
          </a:p>
        </p:txBody>
      </p:sp>
      <p:sp>
        <p:nvSpPr>
          <p:cNvPr id="11" name="TextBox 11"/>
          <p:cNvSpPr txBox="1"/>
          <p:nvPr/>
        </p:nvSpPr>
        <p:spPr>
          <a:xfrm>
            <a:off x="566928" y="6446520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650" dirty="0">
                <a:solidFill>
                  <a:srgbClr val="7E7468"/>
                </a:solidFill>
                <a:latin typeface="Aptos"/>
              </a:rPr>
              <a:t>Post-Meeting Summary Bot case study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se">
  <a:themeElements>
    <a:clrScheme name="Case">
      <a:dk1>
        <a:srgbClr val="1E252B"/>
      </a:dk1>
      <a:lt1>
        <a:srgbClr val="F7F4EE"/>
      </a:lt1>
      <a:dk2>
        <a:srgbClr val="6B6460"/>
      </a:dk2>
      <a:lt2>
        <a:srgbClr val="FFFFFF"/>
      </a:lt2>
      <a:accent1>
        <a:srgbClr val="247C78"/>
      </a:accent1>
      <a:accent2>
        <a:srgbClr val="B65035"/>
      </a:accent2>
      <a:accent3>
        <a:srgbClr val="C89A3B"/>
      </a:accent3>
      <a:accent4>
        <a:srgbClr val="9AA77B"/>
      </a:accent4>
      <a:accent5>
        <a:srgbClr val="D8D0C5"/>
      </a:accent5>
      <a:accent6>
        <a:srgbClr val="7E7468"/>
      </a:accent6>
      <a:hlink>
        <a:srgbClr val="247C78"/>
      </a:hlink>
      <a:folHlink>
        <a:srgbClr val="B65035"/>
      </a:folHlink>
    </a:clrScheme>
    <a:fontScheme name="Case">
      <a:majorFont>
        <a:latin typeface="Aptos Display"/>
      </a:majorFont>
      <a:minorFont>
        <a:latin typeface="Aptos"/>
      </a:minorFont>
    </a:fontScheme>
    <a:fmtScheme name="Cas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7</Slides>
  <Company>Project Case Study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Post-Meeting Summary Bot Case Study</dc:title>
  <dc:creator>Codex</dc:creator>
  <cp:lastModifiedBy>Codex</cp:lastModifiedBy>
  <dcterms:created xsi:type="dcterms:W3CDTF">2026-05-21T04:00:40Z</dcterms:created>
  <dcterms:modified xsi:type="dcterms:W3CDTF">2026-05-21T04:00:40Z</dcterms:modified>
</cp:coreProperties>
</file>